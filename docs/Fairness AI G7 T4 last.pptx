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dba920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dba920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fdba920c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fdba920c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fdba920c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fdba920c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fdba920c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fdba920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fdba920c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fdba920c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fdba920c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fdba920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fdba920c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fdba920c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1ee38145c_6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1ee38145c_6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1ee38145c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1ee38145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1ee38145c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1ee38145c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1ee38145c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1ee38145c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1ee38145c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1ee38145c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1ee38145c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1ee38145c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1ee38145c_4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1ee38145c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1ee38145c_6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1ee38145c_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1ee38145c_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1ee38145c_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3050"/>
              <a:t>TEMPO-BIAS: Political Bias Analysis in LLM</a:t>
            </a:r>
            <a:endParaRPr sz="30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5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18">
                <a:solidFill>
                  <a:schemeClr val="dk1"/>
                </a:solidFill>
              </a:rPr>
              <a:t>Ran Lu, Hasti Hosseinpour, Abderrahmane Moujar, Oloruntobi Olutola</a:t>
            </a:r>
            <a:endParaRPr sz="801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1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1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01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zh-CN" sz="7718">
                <a:solidFill>
                  <a:schemeClr val="dk1"/>
                </a:solidFill>
              </a:rPr>
              <a:t>Paris-Saclay University</a:t>
            </a:r>
            <a:endParaRPr sz="771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zh-CN" sz="7718">
                <a:solidFill>
                  <a:schemeClr val="dk1"/>
                </a:solidFill>
              </a:rPr>
              <a:t>Fairness in AI Course under Prof. Adrian Popescu</a:t>
            </a:r>
            <a:endParaRPr sz="771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zh-CN" sz="8018">
                <a:solidFill>
                  <a:schemeClr val="dk1"/>
                </a:solidFill>
              </a:rPr>
              <a:t>January 2026</a:t>
            </a:r>
            <a:endParaRPr sz="801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Experiment Set UP: Data Collection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1-左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152475"/>
            <a:ext cx="2884451" cy="3732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1-右Datacollec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8925" y="1152475"/>
            <a:ext cx="5523377" cy="3732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2591950" y="1433975"/>
            <a:ext cx="1218600" cy="24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Experiment Set UP: Prompt </a:t>
            </a:r>
            <a:r>
              <a:rPr lang="zh-CN"/>
              <a:t>Input </a:t>
            </a:r>
            <a:r>
              <a:rPr lang="zh-CN"/>
              <a:t>and Results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 title="1-左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152475"/>
            <a:ext cx="2884451" cy="3732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截屏2026-01-28 18.17.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6250" y="1158028"/>
            <a:ext cx="7435474" cy="1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截屏2026-01-28 18.21.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7983" y="2590839"/>
            <a:ext cx="5864413" cy="214004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2713125" y="1770600"/>
            <a:ext cx="7674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Experiment Set UP:  </a:t>
            </a:r>
            <a:r>
              <a:rPr i="1" lang="zh-CN"/>
              <a:t>IC</a:t>
            </a:r>
            <a:r>
              <a:rPr lang="zh-CN"/>
              <a:t> Calculation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 title="1-左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152475"/>
            <a:ext cx="2884451" cy="3732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截屏2026-01-28 18.07.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5875" y="1010276"/>
            <a:ext cx="4699076" cy="401722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2383225" y="3541200"/>
            <a:ext cx="1191600" cy="383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245800"/>
            <a:ext cx="85206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39130"/>
              <a:buFont typeface="Arial"/>
              <a:buNone/>
            </a:pPr>
            <a:r>
              <a:rPr lang="zh-CN" sz="2811"/>
              <a:t>Experiment set Up:</a:t>
            </a:r>
            <a:r>
              <a:rPr b="1" lang="zh-CN" sz="2811"/>
              <a:t>Temporal</a:t>
            </a:r>
            <a:r>
              <a:rPr lang="zh-CN" sz="2811"/>
              <a:t> Bias Evaluation</a:t>
            </a:r>
            <a:endParaRPr sz="281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993475"/>
            <a:ext cx="8520600" cy="3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31250" y="993475"/>
            <a:ext cx="7681500" cy="3893100"/>
          </a:xfrm>
          <a:prstGeom prst="rect">
            <a:avLst/>
          </a:prstGeom>
          <a:solidFill>
            <a:srgbClr val="FFF0F7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dk1"/>
                </a:solidFill>
              </a:rPr>
              <a:t>Objective</a:t>
            </a:r>
            <a:br>
              <a:rPr b="1" lang="zh-CN" sz="1300">
                <a:solidFill>
                  <a:schemeClr val="dk1"/>
                </a:solidFill>
              </a:rPr>
            </a:br>
            <a:r>
              <a:rPr lang="zh-CN" sz="1300">
                <a:solidFill>
                  <a:schemeClr val="dk1"/>
                </a:solidFill>
              </a:rPr>
              <a:t>Analyze the </a:t>
            </a:r>
            <a:r>
              <a:rPr b="1" lang="zh-CN" sz="1300" u="sng">
                <a:solidFill>
                  <a:schemeClr val="dk1"/>
                </a:solidFill>
              </a:rPr>
              <a:t>evolution of political bias over time</a:t>
            </a:r>
            <a:r>
              <a:rPr lang="zh-CN" sz="1300" u="sng">
                <a:solidFill>
                  <a:schemeClr val="dk1"/>
                </a:solidFill>
              </a:rPr>
              <a:t> i</a:t>
            </a:r>
            <a:r>
              <a:rPr lang="zh-CN" sz="1300">
                <a:solidFill>
                  <a:schemeClr val="dk1"/>
                </a:solidFill>
              </a:rPr>
              <a:t>n Large Language Models.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dk1"/>
                </a:solidFill>
              </a:rPr>
              <a:t>Experimental principle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CN" sz="1300">
                <a:solidFill>
                  <a:schemeClr val="dk1"/>
                </a:solidFill>
              </a:rPr>
              <a:t>Models evaluated across </a:t>
            </a:r>
            <a:r>
              <a:rPr b="1" lang="zh-CN" sz="1300">
                <a:solidFill>
                  <a:schemeClr val="dk1"/>
                </a:solidFill>
              </a:rPr>
              <a:t>successive releases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CN" sz="1300">
                <a:solidFill>
                  <a:schemeClr val="dk1"/>
                </a:solidFill>
              </a:rPr>
              <a:t>Bias treated as a </a:t>
            </a:r>
            <a:r>
              <a:rPr b="1" lang="zh-CN" sz="1300">
                <a:solidFill>
                  <a:schemeClr val="dk1"/>
                </a:solidFill>
              </a:rPr>
              <a:t>temporal phenomenon</a:t>
            </a:r>
            <a:r>
              <a:rPr lang="zh-CN" sz="1300">
                <a:solidFill>
                  <a:schemeClr val="dk1"/>
                </a:solidFill>
              </a:rPr>
              <a:t>, not a static property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dk1"/>
                </a:solidFill>
              </a:rPr>
              <a:t>Controlled components (fixed)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CN" sz="1300">
                <a:solidFill>
                  <a:schemeClr val="dk1"/>
                </a:solidFill>
              </a:rPr>
              <a:t>Political entities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CN" sz="1300">
                <a:solidFill>
                  <a:schemeClr val="dk1"/>
                </a:solidFill>
              </a:rPr>
              <a:t>Sentence templates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CN" sz="1300">
                <a:solidFill>
                  <a:schemeClr val="dk1"/>
                </a:solidFill>
              </a:rPr>
              <a:t>Target-Oriented Sentiment Classification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1300">
                <a:solidFill>
                  <a:schemeClr val="dk1"/>
                </a:solidFill>
              </a:rPr>
              <a:t>Only changing variable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zh-CN" sz="1300">
                <a:solidFill>
                  <a:schemeClr val="dk1"/>
                </a:solidFill>
              </a:rPr>
              <a:t>Model version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61450"/>
            <a:ext cx="8520600" cy="6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500"/>
              <a:t>Temporal Evaluation Pipeline</a:t>
            </a:r>
            <a:endParaRPr sz="4200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594025"/>
            <a:ext cx="4860600" cy="4403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400">
                <a:solidFill>
                  <a:srgbClr val="1C4587"/>
                </a:solidFill>
              </a:rPr>
              <a:t>Stage 1</a:t>
            </a:r>
            <a:r>
              <a:rPr b="1" lang="zh-CN" sz="4400">
                <a:solidFill>
                  <a:srgbClr val="1C4587"/>
                </a:solidFill>
              </a:rPr>
              <a:t> </a:t>
            </a:r>
            <a:endParaRPr b="1" sz="44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CN" sz="4400">
                <a:solidFill>
                  <a:schemeClr val="dk1"/>
                </a:solidFill>
              </a:rPr>
              <a:t>    Creates a comparable temporal signal of political bias</a:t>
            </a:r>
            <a:endParaRPr i="1" sz="4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CN" sz="4400">
                <a:solidFill>
                  <a:schemeClr val="dk1"/>
                </a:solidFill>
              </a:rPr>
              <a:t>    Ensures changes reflect model evolution only</a:t>
            </a:r>
            <a:endParaRPr sz="4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4400">
                <a:solidFill>
                  <a:srgbClr val="1C4587"/>
                </a:solidFill>
              </a:rPr>
              <a:t>Stage 2</a:t>
            </a:r>
            <a:br>
              <a:rPr b="1" lang="zh-CN" sz="4400">
                <a:solidFill>
                  <a:schemeClr val="dk1"/>
                </a:solidFill>
              </a:rPr>
            </a:br>
            <a:r>
              <a:rPr b="1" lang="zh-CN" sz="4400">
                <a:solidFill>
                  <a:schemeClr val="dk1"/>
                </a:solidFill>
              </a:rPr>
              <a:t>    </a:t>
            </a:r>
            <a:r>
              <a:rPr lang="zh-CN" sz="4400">
                <a:solidFill>
                  <a:schemeClr val="dk1"/>
                </a:solidFill>
              </a:rPr>
              <a:t>Quantifies </a:t>
            </a:r>
            <a:r>
              <a:rPr b="1" lang="zh-CN" sz="4400">
                <a:solidFill>
                  <a:schemeClr val="dk1"/>
                </a:solidFill>
              </a:rPr>
              <a:t>how bias changes</a:t>
            </a:r>
            <a:r>
              <a:rPr lang="zh-CN" sz="4400">
                <a:solidFill>
                  <a:schemeClr val="dk1"/>
                </a:solidFill>
              </a:rPr>
              <a:t>, not just its magnitude</a:t>
            </a:r>
            <a:br>
              <a:rPr lang="zh-CN" sz="4400">
                <a:solidFill>
                  <a:schemeClr val="dk1"/>
                </a:solidFill>
              </a:rPr>
            </a:br>
            <a:r>
              <a:rPr lang="zh-CN" sz="4400">
                <a:solidFill>
                  <a:schemeClr val="dk1"/>
                </a:solidFill>
              </a:rPr>
              <a:t>    Separates:</a:t>
            </a:r>
            <a:endParaRPr sz="44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000">
                <a:solidFill>
                  <a:schemeClr val="dk1"/>
                </a:solidFill>
              </a:rPr>
              <a:t>the overall </a:t>
            </a:r>
            <a:r>
              <a:rPr b="1" lang="zh-CN" sz="4000">
                <a:solidFill>
                  <a:schemeClr val="dk1"/>
                </a:solidFill>
              </a:rPr>
              <a:t>trend</a:t>
            </a:r>
            <a:r>
              <a:rPr lang="zh-CN" sz="4000">
                <a:solidFill>
                  <a:schemeClr val="dk1"/>
                </a:solidFill>
              </a:rPr>
              <a:t> of bias over time</a:t>
            </a:r>
            <a:endParaRPr sz="4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000">
                <a:solidFill>
                  <a:schemeClr val="dk1"/>
                </a:solidFill>
              </a:rPr>
              <a:t>mpact of </a:t>
            </a:r>
            <a:r>
              <a:rPr b="1" lang="zh-CN" sz="4000">
                <a:solidFill>
                  <a:schemeClr val="dk1"/>
                </a:solidFill>
              </a:rPr>
              <a:t>alignment tuning</a:t>
            </a:r>
            <a:r>
              <a:rPr lang="zh-CN" sz="4000">
                <a:solidFill>
                  <a:schemeClr val="dk1"/>
                </a:solidFill>
              </a:rPr>
              <a:t> by comparing base and chat variants</a:t>
            </a:r>
            <a:endParaRPr sz="4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000">
                <a:solidFill>
                  <a:schemeClr val="dk1"/>
                </a:solidFill>
              </a:rPr>
              <a:t>the </a:t>
            </a:r>
            <a:r>
              <a:rPr b="1" lang="zh-CN" sz="4000">
                <a:solidFill>
                  <a:schemeClr val="dk1"/>
                </a:solidFill>
              </a:rPr>
              <a:t>ecosystem-level behavior</a:t>
            </a:r>
            <a:r>
              <a:rPr lang="zh-CN" sz="4000">
                <a:solidFill>
                  <a:schemeClr val="dk1"/>
                </a:solidFill>
              </a:rPr>
              <a:t> by comparing different model families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4400">
                <a:solidFill>
                  <a:srgbClr val="1C4587"/>
                </a:solidFill>
              </a:rPr>
              <a:t>Stage 3</a:t>
            </a:r>
            <a:br>
              <a:rPr b="1" lang="zh-CN" sz="4400">
                <a:solidFill>
                  <a:schemeClr val="dk1"/>
                </a:solidFill>
              </a:rPr>
            </a:br>
            <a:r>
              <a:rPr b="1" lang="zh-CN" sz="4400">
                <a:solidFill>
                  <a:schemeClr val="dk1"/>
                </a:solidFill>
              </a:rPr>
              <a:t>    </a:t>
            </a:r>
            <a:r>
              <a:rPr lang="zh-CN" sz="4400">
                <a:solidFill>
                  <a:schemeClr val="dk1"/>
                </a:solidFill>
              </a:rPr>
              <a:t>Makes temporal patterns </a:t>
            </a:r>
            <a:r>
              <a:rPr b="1" lang="zh-CN" sz="4400">
                <a:solidFill>
                  <a:schemeClr val="dk1"/>
                </a:solidFill>
              </a:rPr>
              <a:t>explicit and interpretable</a:t>
            </a:r>
            <a:br>
              <a:rPr b="1" lang="zh-CN" sz="4400">
                <a:solidFill>
                  <a:schemeClr val="dk1"/>
                </a:solidFill>
              </a:rPr>
            </a:br>
            <a:r>
              <a:rPr b="1" lang="zh-CN" sz="4400">
                <a:solidFill>
                  <a:schemeClr val="dk1"/>
                </a:solidFill>
              </a:rPr>
              <a:t>    </a:t>
            </a:r>
            <a:r>
              <a:rPr lang="zh-CN" sz="4400">
                <a:solidFill>
                  <a:schemeClr val="dk1"/>
                </a:solidFill>
              </a:rPr>
              <a:t>Enables comparison:</a:t>
            </a:r>
            <a:endParaRPr sz="44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000">
                <a:solidFill>
                  <a:schemeClr val="dk1"/>
                </a:solidFill>
              </a:rPr>
              <a:t>across releases</a:t>
            </a:r>
            <a:endParaRPr sz="4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000">
                <a:solidFill>
                  <a:schemeClr val="dk1"/>
                </a:solidFill>
              </a:rPr>
              <a:t>across model variants</a:t>
            </a:r>
            <a:endParaRPr sz="4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000">
                <a:solidFill>
                  <a:schemeClr val="dk1"/>
                </a:solidFill>
              </a:rPr>
              <a:t>across families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CN" sz="4400">
                <a:solidFill>
                  <a:srgbClr val="1C4587"/>
                </a:solidFill>
              </a:rPr>
              <a:t>Stage 4</a:t>
            </a:r>
            <a:br>
              <a:rPr b="1" lang="zh-CN" sz="4400">
                <a:solidFill>
                  <a:schemeClr val="dk1"/>
                </a:solidFill>
              </a:rPr>
            </a:br>
            <a:r>
              <a:rPr lang="zh-CN" sz="4400">
                <a:solidFill>
                  <a:schemeClr val="dk1"/>
                </a:solidFill>
              </a:rPr>
              <a:t>    Supports </a:t>
            </a:r>
            <a:r>
              <a:rPr b="1" lang="zh-CN" sz="4400">
                <a:solidFill>
                  <a:schemeClr val="dk1"/>
                </a:solidFill>
              </a:rPr>
              <a:t>causal and longitudinal conclusions</a:t>
            </a:r>
            <a:endParaRPr sz="44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000">
                <a:solidFill>
                  <a:schemeClr val="dk1"/>
                </a:solidFill>
              </a:rPr>
              <a:t>bias decay vs accretion</a:t>
            </a:r>
            <a:endParaRPr sz="4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000">
                <a:solidFill>
                  <a:schemeClr val="dk1"/>
                </a:solidFill>
              </a:rPr>
              <a:t>alignment mitigation vs amplification</a:t>
            </a:r>
            <a:endParaRPr sz="4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CN" sz="4000">
                <a:solidFill>
                  <a:schemeClr val="dk1"/>
                </a:solidFill>
              </a:rPr>
              <a:t>convergence vs divergence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600" y="164875"/>
            <a:ext cx="3731701" cy="4904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097050"/>
            <a:ext cx="6744950" cy="380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-6100" r="0" t="-6100"/>
          <a:stretch/>
        </p:blipFill>
        <p:spPr>
          <a:xfrm>
            <a:off x="179325" y="872950"/>
            <a:ext cx="8476723" cy="375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25" y="330600"/>
            <a:ext cx="4451751" cy="40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8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Results: Comparative Analysis of Bias (Base vs. Chat / Model Families)</a:t>
            </a:r>
            <a:endParaRPr b="1" sz="3600"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050" y="1229552"/>
            <a:ext cx="7911525" cy="29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1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Results: Interpretable Temporal Patterns</a:t>
            </a:r>
            <a:endParaRPr b="1" sz="3900"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37" y="1239901"/>
            <a:ext cx="8125726" cy="30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875" y="1239924"/>
            <a:ext cx="8166625" cy="30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400" y="896625"/>
            <a:ext cx="7953026" cy="394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938" y="333375"/>
            <a:ext cx="5972175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00" y="752424"/>
            <a:ext cx="7344126" cy="363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References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Buyl, M., et al. (2024). “Large language models reflect the ideology of their creators.” Nature Machine Intelligence.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Röttger, P., et al. (2024). “Political compass or spinning arrow? Towards more meaningful evaluations for values and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opinions in large language models.” ACL 2024.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Feng, S., et al. (2023). “From pretraining data to language models to downstream tasks: Tracking the trails of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political biases.” ACL 2023.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Hartmann, J., et al. (2023). “The political ideology of conversational AI: Converging evidence on ChatGPT’s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pro-environmental, left-libertarian orientation.”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CN"/>
              <a:t>Hutto, C.J. &amp; Gilbert, E.E. (2014). “VADER: A Parsimonious Rule-based Model for Sentiment Analysis.” ICWSM.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300"/>
              <a:t>Thank You!</a:t>
            </a:r>
            <a:endParaRPr b="1" sz="2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400"/>
              <a:t>Questions?</a:t>
            </a:r>
            <a:endParaRPr b="1"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500"/>
              <a:t>Repository: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500"/>
              <a:t> https://huggingface.co/spaces/moujar/TEMPO-BIAS 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500"/>
              <a:t>&amp;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500"/>
              <a:t> GitHub:https://github.com/moujar/TEMPO-BIAS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